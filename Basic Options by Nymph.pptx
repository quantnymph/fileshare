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Proxima Nova"/>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roximaNova-bold.fntdata"/><Relationship Id="rId12" Type="http://schemas.openxmlformats.org/officeDocument/2006/relationships/font" Target="fonts/ProximaNov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boldItalic.fntdata"/><Relationship Id="rId14"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b0acb369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b0acb369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cb0acb3693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cb0acb369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cb0acb3693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cb0acb3693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cb0acb369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cb0acb369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b0acb3693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b0acb3693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Options Basics</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Nymph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244">
                <a:solidFill>
                  <a:schemeClr val="lt1"/>
                </a:solidFill>
              </a:rPr>
              <a:t>What are Options?</a:t>
            </a:r>
            <a:endParaRPr sz="2244"/>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Options are a type of derivative security, which is a security that derives its value from the value of another security</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Specifically, options give the right but </a:t>
            </a:r>
            <a:r>
              <a:rPr i="1" lang="en">
                <a:solidFill>
                  <a:schemeClr val="lt1"/>
                </a:solidFill>
              </a:rPr>
              <a:t>NOT</a:t>
            </a:r>
            <a:r>
              <a:rPr lang="en">
                <a:solidFill>
                  <a:schemeClr val="lt1"/>
                </a:solidFill>
              </a:rPr>
              <a:t> the obligation to buy/sell a particular security (or non-security asset) at an agreed upon price at (or before) an agreed upon date</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This price is called the strike price, and this date is called the expiry, taking advantage of this right is called exercising the option, and the security value is derived from is called the underlying security.</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An option that gives you the right to buy the underlying security is called a call option, one that gives you the right to sell it is called a put option</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What are Options Used For?</a:t>
            </a:r>
            <a:endParaRPr>
              <a:solidFill>
                <a:schemeClr val="lt1"/>
              </a:solidFill>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Options are most commonly seen as insurance against a particular outcome, such as hedging the risk of a large drop in the value of your position in the underlying security. You still lose money if it goes down and the option expires worthless if it doesn’t, but the expected value of your portfolio across the distribution of both outcomes is higher (this isn’t always true, it depends on the price paid for the option). </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Another reason to use options is to combine them and other positions for defined payoff structures, ensuring that you know your possible outcomes</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My favorite way to use them is in expressing a view on volatility rather than direction. We’ll go over how to do this another time.</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Types of Options</a:t>
            </a:r>
            <a:endParaRPr>
              <a:solidFill>
                <a:schemeClr val="lt1"/>
              </a:solidFill>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European - Most basic option, payoff of Price - Strike or Strike - Price, can only exercise on expiry</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American - Most common option, same payoff as European, can exercise any time before or on expiry</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Lookback Option - Exotic options where the payoff depends on “looking back” through the path the underlying security took, rather than price upon exercise</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Asian Option - The most common of these is an Asian option, which uses the average of the security’s price throughout the entire life of the option</a:t>
            </a:r>
            <a:endParaRPr>
              <a:solidFill>
                <a:schemeClr val="lt1"/>
              </a:solidFill>
            </a:endParaRPr>
          </a:p>
          <a:p>
            <a:pPr indent="-317500" lvl="1" marL="914400" rtl="0" algn="l">
              <a:spcBef>
                <a:spcPts val="0"/>
              </a:spcBef>
              <a:spcAft>
                <a:spcPts val="0"/>
              </a:spcAft>
              <a:buClr>
                <a:schemeClr val="lt1"/>
              </a:buClr>
              <a:buSzPts val="1400"/>
              <a:buChar char="○"/>
            </a:pPr>
            <a:r>
              <a:rPr lang="en">
                <a:solidFill>
                  <a:schemeClr val="lt1"/>
                </a:solidFill>
              </a:rPr>
              <a:t>Others can include using the max or min price across the life of the option, but these are uncommonly used</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Options Spreads</a:t>
            </a:r>
            <a:endParaRPr>
              <a:solidFill>
                <a:schemeClr val="lt1"/>
              </a:solidFill>
            </a:endParaRPr>
          </a:p>
        </p:txBody>
      </p:sp>
      <p:sp>
        <p:nvSpPr>
          <p:cNvPr id="84" name="Google Shape;84;p17"/>
          <p:cNvSpPr txBox="1"/>
          <p:nvPr>
            <p:ph idx="1" type="body"/>
          </p:nvPr>
        </p:nvSpPr>
        <p:spPr>
          <a:xfrm>
            <a:off x="311700" y="1152475"/>
            <a:ext cx="8332500" cy="19080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Clr>
                <a:schemeClr val="lt1"/>
              </a:buClr>
              <a:buSzPct val="100000"/>
              <a:buChar char="●"/>
            </a:pPr>
            <a:r>
              <a:rPr lang="en">
                <a:solidFill>
                  <a:schemeClr val="lt1"/>
                </a:solidFill>
              </a:rPr>
              <a:t>Spreads are combinations of options that are used to create defined payoff structures not possible with underlying securities or single options</a:t>
            </a:r>
            <a:endParaRPr>
              <a:solidFill>
                <a:schemeClr val="lt1"/>
              </a:solidFill>
            </a:endParaRPr>
          </a:p>
          <a:p>
            <a:pPr indent="-334327" lvl="0" marL="457200" rtl="0" algn="l">
              <a:spcBef>
                <a:spcPts val="0"/>
              </a:spcBef>
              <a:spcAft>
                <a:spcPts val="0"/>
              </a:spcAft>
              <a:buClr>
                <a:schemeClr val="lt1"/>
              </a:buClr>
              <a:buSzPct val="100000"/>
              <a:buChar char="●"/>
            </a:pPr>
            <a:r>
              <a:rPr lang="en">
                <a:solidFill>
                  <a:schemeClr val="lt1"/>
                </a:solidFill>
              </a:rPr>
              <a:t>The spreads I use the most are straddles and strangles, which profit with volatility in either direction that </a:t>
            </a:r>
            <a:r>
              <a:rPr lang="en">
                <a:solidFill>
                  <a:schemeClr val="lt1"/>
                </a:solidFill>
              </a:rPr>
              <a:t>outweighs</a:t>
            </a:r>
            <a:r>
              <a:rPr lang="en">
                <a:solidFill>
                  <a:schemeClr val="lt1"/>
                </a:solidFill>
              </a:rPr>
              <a:t> the cost of the option. If the option is too expensive or you expect low volatility, you can sell the spread. We’ll talk more about hedging short spreads and other spread structures in the future.</a:t>
            </a:r>
            <a:endParaRPr>
              <a:solidFill>
                <a:schemeClr val="lt1"/>
              </a:solidFill>
            </a:endParaRPr>
          </a:p>
        </p:txBody>
      </p:sp>
      <p:pic>
        <p:nvPicPr>
          <p:cNvPr id="85" name="Google Shape;85;p17"/>
          <p:cNvPicPr preferRelativeResize="0"/>
          <p:nvPr/>
        </p:nvPicPr>
        <p:blipFill>
          <a:blip r:embed="rId3">
            <a:alphaModFix/>
          </a:blip>
          <a:stretch>
            <a:fillRect/>
          </a:stretch>
        </p:blipFill>
        <p:spPr>
          <a:xfrm>
            <a:off x="311688" y="3060475"/>
            <a:ext cx="3503977" cy="1778225"/>
          </a:xfrm>
          <a:prstGeom prst="rect">
            <a:avLst/>
          </a:prstGeom>
          <a:noFill/>
          <a:ln>
            <a:noFill/>
          </a:ln>
        </p:spPr>
      </p:pic>
      <p:pic>
        <p:nvPicPr>
          <p:cNvPr id="86" name="Google Shape;86;p17"/>
          <p:cNvPicPr preferRelativeResize="0"/>
          <p:nvPr/>
        </p:nvPicPr>
        <p:blipFill>
          <a:blip r:embed="rId4">
            <a:alphaModFix/>
          </a:blip>
          <a:stretch>
            <a:fillRect/>
          </a:stretch>
        </p:blipFill>
        <p:spPr>
          <a:xfrm>
            <a:off x="5987140" y="3060475"/>
            <a:ext cx="2845160" cy="1778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Conclusion</a:t>
            </a:r>
            <a:endParaRPr>
              <a:solidFill>
                <a:schemeClr val="lt1"/>
              </a:solidFill>
            </a:endParaRPr>
          </a:p>
        </p:txBody>
      </p:sp>
      <p:sp>
        <p:nvSpPr>
          <p:cNvPr id="92" name="Google Shape;9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Tbh I have no idea how long this will take to go over so I’m going to end it here and adjust the amount of content in the future if it’s too short or too long. </a:t>
            </a:r>
            <a:endParaRPr>
              <a:solidFill>
                <a:schemeClr val="lt1"/>
              </a:solidFill>
            </a:endParaRPr>
          </a:p>
          <a:p>
            <a:pPr indent="0" lvl="0" marL="0" rtl="0" algn="l">
              <a:spcBef>
                <a:spcPts val="1200"/>
              </a:spcBef>
              <a:spcAft>
                <a:spcPts val="0"/>
              </a:spcAft>
              <a:buNone/>
            </a:pPr>
            <a:r>
              <a:rPr lang="en">
                <a:solidFill>
                  <a:schemeClr val="lt1"/>
                </a:solidFill>
              </a:rPr>
              <a:t>Next time we will cover arbitrage boundaries for single options and arbitrage relationships between different options, as well as basic pricing models for the value of an option.</a:t>
            </a:r>
            <a:endParaRPr>
              <a:solidFill>
                <a:schemeClr val="lt1"/>
              </a:solidFill>
            </a:endParaRPr>
          </a:p>
          <a:p>
            <a:pPr indent="0" lvl="0" marL="0" rtl="0" algn="l">
              <a:spcBef>
                <a:spcPts val="1200"/>
              </a:spcBef>
              <a:spcAft>
                <a:spcPts val="1200"/>
              </a:spcAft>
              <a:buNone/>
            </a:pPr>
            <a:r>
              <a:rPr lang="en">
                <a:solidFill>
                  <a:schemeClr val="lt1"/>
                </a:solidFill>
              </a:rPr>
              <a:t>Q&amp;A TIME! I can’t </a:t>
            </a:r>
            <a:r>
              <a:rPr lang="en">
                <a:solidFill>
                  <a:schemeClr val="lt1"/>
                </a:solidFill>
              </a:rPr>
              <a:t>promise</a:t>
            </a:r>
            <a:r>
              <a:rPr lang="en">
                <a:solidFill>
                  <a:schemeClr val="lt1"/>
                </a:solidFill>
              </a:rPr>
              <a:t> I’ll answer everything because I don’t want to give misinformation if I don’t remember something but I’ll try.</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